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9"/>
  </p:notesMasterIdLst>
  <p:sldIdLst>
    <p:sldId id="257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56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66"/>
    <a:srgbClr val="F5F5F5"/>
    <a:srgbClr val="00CC99"/>
    <a:srgbClr val="CCFF66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211B6-BCB8-4A55-AB5D-13D3EC4A9EB2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6A38E-F24F-4EFD-8C64-DE4743DB2A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46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Tisztelt Bizottság! Szabó Bálint vagyok, és a mai napon az Önálló laboratórium tárgy keretében végzett projektemet, szeretném bemutatni melynek címe: </a:t>
            </a:r>
            <a:r>
              <a:rPr lang="hu-HU" b="1" dirty="0" err="1"/>
              <a:t>ReviewAgent</a:t>
            </a:r>
            <a:r>
              <a:rPr lang="hu-HU" b="1" dirty="0"/>
              <a:t> </a:t>
            </a:r>
          </a:p>
          <a:p>
            <a:endParaRPr lang="hu-HU" b="1" dirty="0"/>
          </a:p>
          <a:p>
            <a:r>
              <a:rPr lang="hu-HU" b="1" dirty="0"/>
              <a:t>Alkalmazott MI, LLM és RAG architektúra témájába tartozik</a:t>
            </a:r>
          </a:p>
          <a:p>
            <a:endParaRPr lang="hu-HU" b="1" dirty="0"/>
          </a:p>
          <a:p>
            <a:r>
              <a:rPr lang="hu-HU" dirty="0"/>
              <a:t>Konzulensem Dr. </a:t>
            </a:r>
            <a:r>
              <a:rPr lang="hu-HU" dirty="0" err="1"/>
              <a:t>Ekler</a:t>
            </a:r>
            <a:r>
              <a:rPr lang="hu-HU" dirty="0"/>
              <a:t> Péter.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6A38E-F24F-4EFD-8C64-DE4743DB2AB2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2432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projektem célja </a:t>
            </a:r>
            <a:r>
              <a:rPr lang="hu-HU" dirty="0" err="1"/>
              <a:t>célja</a:t>
            </a:r>
            <a:r>
              <a:rPr lang="hu-HU" dirty="0"/>
              <a:t>, hogy a kis- és középvállalkozások hírnévmenedzselése a legmodernebb MI architektúrák segítségével történjen meg.</a:t>
            </a:r>
          </a:p>
          <a:p>
            <a:br>
              <a:rPr lang="hu-HU" dirty="0"/>
            </a:br>
            <a:r>
              <a:rPr lang="hu-HU" dirty="0"/>
              <a:t>Mielőtt azonban rátérnék arra, hogy pontosabban mit is jelent ez a gyakorlatban, engedjék meg, hogy megosszak egy rövid, személyes történetet arról, hogyan is találkoztam ezzel a problémával én magam.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6A38E-F24F-4EFD-8C64-DE4743DB2AB2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7466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E7DF7-1811-4419-88FD-7FED195CF9B4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20AD-8812-4295-9855-C5ACC69186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959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E7DF7-1811-4419-88FD-7FED195CF9B4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20AD-8812-4295-9855-C5ACC69186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1103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E7DF7-1811-4419-88FD-7FED195CF9B4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20AD-8812-4295-9855-C5ACC69186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052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E7DF7-1811-4419-88FD-7FED195CF9B4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20AD-8812-4295-9855-C5ACC69186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3378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E7DF7-1811-4419-88FD-7FED195CF9B4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20AD-8812-4295-9855-C5ACC69186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9185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E7DF7-1811-4419-88FD-7FED195CF9B4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20AD-8812-4295-9855-C5ACC69186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9714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E7DF7-1811-4419-88FD-7FED195CF9B4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20AD-8812-4295-9855-C5ACC69186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4306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E7DF7-1811-4419-88FD-7FED195CF9B4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20AD-8812-4295-9855-C5ACC69186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7497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E7DF7-1811-4419-88FD-7FED195CF9B4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20AD-8812-4295-9855-C5ACC69186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034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E7DF7-1811-4419-88FD-7FED195CF9B4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20AD-8812-4295-9855-C5ACC69186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1666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E7DF7-1811-4419-88FD-7FED195CF9B4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20AD-8812-4295-9855-C5ACC69186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78111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F5429D-6CCC-809B-65ED-18D6B8018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C509F3A-6FFA-419A-3A22-5D69ACC2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5BDACDF-0172-FBAE-E04B-E26CEA41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E7DF7-1811-4419-88FD-7FED195CF9B4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ED8A4A4-6E42-106F-7C3A-64ECC4F9B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6E3F160-9D3F-47F3-BC4F-90D3F35CC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020AD-8812-4295-9855-C5ACC69186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582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EAE7DF7-1811-4419-88FD-7FED195CF9B4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56020AD-8812-4295-9855-C5ACC69186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700659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98662C-4139-4568-F67E-B8F18A043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445"/>
            <a:ext cx="9144000" cy="2387600"/>
          </a:xfrm>
        </p:spPr>
        <p:txBody>
          <a:bodyPr>
            <a:normAutofit/>
          </a:bodyPr>
          <a:lstStyle/>
          <a:p>
            <a:r>
              <a:rPr lang="hu-HU" dirty="0" err="1">
                <a:solidFill>
                  <a:srgbClr val="F5F5F5"/>
                </a:solidFill>
              </a:rPr>
              <a:t>Ai</a:t>
            </a:r>
            <a:r>
              <a:rPr lang="hu-HU" dirty="0">
                <a:solidFill>
                  <a:srgbClr val="F5F5F5"/>
                </a:solidFill>
              </a:rPr>
              <a:t>-alapú</a:t>
            </a:r>
            <a:br>
              <a:rPr lang="hu-HU" dirty="0"/>
            </a:br>
            <a:r>
              <a:rPr lang="hu-HU" dirty="0">
                <a:solidFill>
                  <a:srgbClr val="CCFF66"/>
                </a:solidFill>
              </a:rPr>
              <a:t>Véleménykezelő Rendszer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F562663-780F-B060-1B97-15D9C983C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00045"/>
            <a:ext cx="9144000" cy="1655762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CCFF66"/>
                </a:solidFill>
              </a:rPr>
              <a:t>Google </a:t>
            </a:r>
            <a:r>
              <a:rPr lang="hu-HU" dirty="0" err="1">
                <a:solidFill>
                  <a:srgbClr val="CCFF66"/>
                </a:solidFill>
              </a:rPr>
              <a:t>Review</a:t>
            </a:r>
            <a:r>
              <a:rPr lang="hu-HU" dirty="0">
                <a:solidFill>
                  <a:srgbClr val="CCFF66"/>
                </a:solidFill>
              </a:rPr>
              <a:t> Agent Fejlesztése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810680D-4E66-3AC5-718B-8E9BCD85AD57}"/>
              </a:ext>
            </a:extLst>
          </p:cNvPr>
          <p:cNvSpPr txBox="1"/>
          <p:nvPr/>
        </p:nvSpPr>
        <p:spPr>
          <a:xfrm>
            <a:off x="3514254" y="3986453"/>
            <a:ext cx="1184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dirty="0">
                <a:solidFill>
                  <a:srgbClr val="339966"/>
                </a:solidFill>
              </a:rPr>
              <a:t>Szerző: 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A1BDB2F7-72E3-A47E-BBED-DC7D27EB76DD}"/>
              </a:ext>
            </a:extLst>
          </p:cNvPr>
          <p:cNvSpPr txBox="1"/>
          <p:nvPr/>
        </p:nvSpPr>
        <p:spPr>
          <a:xfrm>
            <a:off x="7051142" y="3986452"/>
            <a:ext cx="165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dirty="0">
                <a:solidFill>
                  <a:srgbClr val="339966"/>
                </a:solidFill>
              </a:rPr>
              <a:t>Konzulens: 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5317FB26-D9B3-59B7-3B13-9C8414F55F43}"/>
              </a:ext>
            </a:extLst>
          </p:cNvPr>
          <p:cNvSpPr txBox="1"/>
          <p:nvPr/>
        </p:nvSpPr>
        <p:spPr>
          <a:xfrm>
            <a:off x="3150606" y="4309619"/>
            <a:ext cx="2062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rgbClr val="F5F5F5"/>
                </a:solidFill>
              </a:rPr>
              <a:t>Szabó Bálint 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29AADEC2-E975-7157-E37D-EF17E3870403}"/>
              </a:ext>
            </a:extLst>
          </p:cNvPr>
          <p:cNvSpPr txBox="1"/>
          <p:nvPr/>
        </p:nvSpPr>
        <p:spPr>
          <a:xfrm>
            <a:off x="6978715" y="4309619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dirty="0">
                <a:solidFill>
                  <a:srgbClr val="F5F5F5"/>
                </a:solidFill>
              </a:rPr>
              <a:t> Dr. </a:t>
            </a:r>
            <a:r>
              <a:rPr lang="hu-HU" sz="2400" dirty="0" err="1">
                <a:solidFill>
                  <a:srgbClr val="F5F5F5"/>
                </a:solidFill>
              </a:rPr>
              <a:t>Ekler</a:t>
            </a:r>
            <a:r>
              <a:rPr lang="hu-HU" sz="2400" dirty="0">
                <a:solidFill>
                  <a:srgbClr val="F5F5F5"/>
                </a:solidFill>
              </a:rPr>
              <a:t> Péter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15CE86EA-6284-10C2-898D-AF71112CD6DC}"/>
              </a:ext>
            </a:extLst>
          </p:cNvPr>
          <p:cNvSpPr txBox="1"/>
          <p:nvPr/>
        </p:nvSpPr>
        <p:spPr>
          <a:xfrm>
            <a:off x="2667000" y="5926882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dirty="0">
                <a:solidFill>
                  <a:srgbClr val="339966"/>
                </a:solidFill>
              </a:rPr>
              <a:t>BME - Önálló Laboratórium 2025/2026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671EB642-E666-0B0C-5E2C-A4CFD4CBE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2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54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29FE1-B5CC-3C1D-C44D-A1A5D7D6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6DB960-9DE0-7355-2004-9E5F54E6F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1786"/>
            <a:ext cx="10515600" cy="1325563"/>
          </a:xfrm>
        </p:spPr>
        <p:txBody>
          <a:bodyPr/>
          <a:lstStyle/>
          <a:p>
            <a:pPr algn="ctr"/>
            <a:r>
              <a:rPr lang="hu-HU" b="1" dirty="0"/>
              <a:t>1. Bevezetés</a:t>
            </a: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421D830-DF32-8A1D-99F0-204ED5528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28696" y="3302251"/>
            <a:ext cx="7934608" cy="600704"/>
          </a:xfrm>
        </p:spPr>
        <p:txBody>
          <a:bodyPr/>
          <a:lstStyle/>
          <a:p>
            <a:pPr marL="0" indent="0" algn="ctr">
              <a:buNone/>
            </a:pPr>
            <a:r>
              <a:rPr lang="hu-HU" dirty="0"/>
              <a:t>A témaválasztás aktualitása és piaci igények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DF9B7FD-6C75-36DF-D098-B18AB7F9B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9087"/>
            <a:ext cx="12192000" cy="694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7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897312-98B4-BBB5-7FD9-677D0D696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44744"/>
          </a:xfrm>
        </p:spPr>
        <p:txBody>
          <a:bodyPr>
            <a:normAutofit/>
          </a:bodyPr>
          <a:lstStyle/>
          <a:p>
            <a:r>
              <a:rPr lang="hu-HU" b="1" dirty="0"/>
              <a:t>1. Bevezetés</a:t>
            </a:r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ED7B044-857A-DAF7-116B-7184641B1C13}"/>
              </a:ext>
            </a:extLst>
          </p:cNvPr>
          <p:cNvSpPr txBox="1"/>
          <p:nvPr/>
        </p:nvSpPr>
        <p:spPr>
          <a:xfrm>
            <a:off x="838200" y="1725615"/>
            <a:ext cx="814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A megoldandó problémakör</a:t>
            </a:r>
            <a:endParaRPr lang="hu-HU" sz="24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92F56A71-7C56-06A6-907B-22BA2AF968B2}"/>
              </a:ext>
            </a:extLst>
          </p:cNvPr>
          <p:cNvSpPr txBox="1"/>
          <p:nvPr/>
        </p:nvSpPr>
        <p:spPr>
          <a:xfrm>
            <a:off x="838200" y="3059668"/>
            <a:ext cx="745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Fájópontok a KKV szektorban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7EFF0C93-AF19-53E3-7821-BFE96A6C4BFD}"/>
              </a:ext>
            </a:extLst>
          </p:cNvPr>
          <p:cNvSpPr txBox="1"/>
          <p:nvPr/>
        </p:nvSpPr>
        <p:spPr>
          <a:xfrm>
            <a:off x="838200" y="3467166"/>
            <a:ext cx="8740366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u-HU" b="1" dirty="0"/>
              <a:t>Erőforrás hiány:</a:t>
            </a:r>
            <a:r>
              <a:rPr lang="hu-HU" dirty="0"/>
              <a:t> Nincs kapacitás napi szintű válaszadásra.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u-HU" b="1" dirty="0"/>
              <a:t>Márkaidentitás:</a:t>
            </a:r>
            <a:r>
              <a:rPr lang="hu-HU" dirty="0"/>
              <a:t> Sablonos válaszok ("Köszönjük!") rontják a hitelességet.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u-HU" b="1" dirty="0"/>
              <a:t>Helyi SEO:</a:t>
            </a:r>
            <a:r>
              <a:rPr lang="hu-HU" dirty="0"/>
              <a:t> A lassú reakcióidő rontja a Google </a:t>
            </a:r>
            <a:r>
              <a:rPr lang="hu-HU" dirty="0" err="1"/>
              <a:t>Maps</a:t>
            </a:r>
            <a:r>
              <a:rPr lang="hu-HU" dirty="0"/>
              <a:t> rangsorolást.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u-HU" b="1" dirty="0"/>
              <a:t>Skálázhatóság:</a:t>
            </a:r>
            <a:r>
              <a:rPr lang="hu-HU" dirty="0"/>
              <a:t> Több telephely esetén kezelhetetlen manuálisan.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u-HU" dirty="0"/>
              <a:t>Az ügyfelek 90%-a elolvassa a véleményeket vásárlás előtt.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u-HU" dirty="0"/>
              <a:t>A Google értékelések közvetlenül befolyásolják a bevételt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8C955202-31E4-F1EC-A24A-50C5A3D94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0F7BA91F-1BA2-10FC-7FBB-48EF046C7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800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E55710-B9B5-82CE-9268-E059FBC57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Problémadefiniálás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6DD6DF7-66E5-11EA-0168-38ED6CC32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- Időhiány: A szakembereknek nincs kapacitásuk az azonnali válaszadásra.</a:t>
            </a:r>
          </a:p>
          <a:p>
            <a:r>
              <a:rPr lang="hu-HU" dirty="0"/>
              <a:t>- Kritikus pont: A megválaszolatlan negatív kritikák rontják a rangsorolást.</a:t>
            </a:r>
          </a:p>
          <a:p>
            <a:r>
              <a:rPr lang="hu-HU" dirty="0"/>
              <a:t>- Piaci rés: Hiányoznak a magyar KKV-szektorra szabott megoldások.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B1BA86F-449D-2673-29F6-44376AF33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1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2C4A40-C9AB-1EF6-4ED0-EDFD32AD1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Félév ütemezése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6E589C9-7426-5F3D-8C40-29CBCA141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1-2. hét: Kutatás, technológia (</a:t>
            </a:r>
            <a:r>
              <a:rPr lang="hu-HU" dirty="0" err="1"/>
              <a:t>Ollama</a:t>
            </a:r>
            <a:r>
              <a:rPr lang="hu-HU" dirty="0"/>
              <a:t>/</a:t>
            </a:r>
            <a:r>
              <a:rPr lang="hu-HU" dirty="0" err="1"/>
              <a:t>Qwen</a:t>
            </a:r>
            <a:r>
              <a:rPr lang="hu-HU" dirty="0"/>
              <a:t>) kiválasztása.</a:t>
            </a:r>
          </a:p>
          <a:p>
            <a:r>
              <a:rPr lang="hu-HU" dirty="0"/>
              <a:t>3-5. hét: </a:t>
            </a:r>
            <a:r>
              <a:rPr lang="hu-HU" dirty="0" err="1"/>
              <a:t>Qdrant</a:t>
            </a:r>
            <a:r>
              <a:rPr lang="hu-HU" dirty="0"/>
              <a:t> integráció, RAG logika, </a:t>
            </a:r>
            <a:r>
              <a:rPr lang="hu-HU" dirty="0" err="1"/>
              <a:t>Streamlit</a:t>
            </a:r>
            <a:r>
              <a:rPr lang="hu-HU" dirty="0"/>
              <a:t> </a:t>
            </a:r>
            <a:r>
              <a:rPr lang="hu-HU" dirty="0" err="1"/>
              <a:t>dashboard</a:t>
            </a:r>
            <a:r>
              <a:rPr lang="hu-HU" dirty="0"/>
              <a:t>.</a:t>
            </a:r>
          </a:p>
          <a:p>
            <a:r>
              <a:rPr lang="hu-HU" dirty="0"/>
              <a:t>6-7. hét: </a:t>
            </a:r>
            <a:r>
              <a:rPr lang="hu-HU" dirty="0" err="1"/>
              <a:t>FastAPI</a:t>
            </a:r>
            <a:r>
              <a:rPr lang="hu-HU" dirty="0"/>
              <a:t> SaaS architektúra, </a:t>
            </a:r>
            <a:r>
              <a:rPr lang="hu-HU" dirty="0" err="1"/>
              <a:t>Gemini</a:t>
            </a:r>
            <a:r>
              <a:rPr lang="hu-HU" dirty="0"/>
              <a:t> API migráció.</a:t>
            </a:r>
          </a:p>
          <a:p>
            <a:r>
              <a:rPr lang="hu-HU" dirty="0"/>
              <a:t>8-9. hét: Biztonsági audit, OAuth2, IDOR/XSS javítások.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91C1B55-9886-7F0E-E51D-C8BEBACBA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71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5FBDDB-0648-07C4-D2B1-D6EC41ECD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Felhasznált technológiák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FE811C2-2F6C-D875-40BE-C439ED19C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- Backend: Python 3.12, FastAPI, SQLAlchemy.</a:t>
            </a:r>
          </a:p>
          <a:p>
            <a:r>
              <a:rPr lang="hu-HU"/>
              <a:t>- AI/LLM: Google Gemini 2.5 Flash, sentence-transformers.</a:t>
            </a:r>
          </a:p>
          <a:p>
            <a:r>
              <a:rPr lang="hu-HU"/>
              <a:t>- Adatbázis: Qdrant Cloud (Vektor), PostgreSQL (Relációs).</a:t>
            </a:r>
          </a:p>
          <a:p>
            <a:r>
              <a:rPr lang="hu-HU"/>
              <a:t>- Frontend: HTML5, Tailwind CSS, Chart.js.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3F70119-C107-85FF-762F-763836C75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987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CB939B-B453-BDA0-EB37-69632459F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Rendszerarchitektúra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BEF7E56-E6EB-D197-8C37-3CA6BD89B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- Multi-tenant SaaS felépítés.</a:t>
            </a:r>
          </a:p>
          <a:p>
            <a:r>
              <a:rPr lang="hu-HU"/>
              <a:t>- JWT alapú jogosultságkezelés (Depends(get_current_business_id)).</a:t>
            </a:r>
          </a:p>
          <a:p>
            <a:r>
              <a:rPr lang="hu-HU"/>
              <a:t>- API-vezérelt kommunikáció a frontend és backend között.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4C5EEDB-487B-ED7D-6327-C5F2660D2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34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6F8CFB-343E-5791-863A-DB0740FF2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RAG technológia működése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B13043A-AF59-E714-6FC6-9A8590F4A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- Vektorizálás: 768 dimenziós embeddingek.</a:t>
            </a:r>
          </a:p>
          <a:p>
            <a:r>
              <a:rPr lang="hu-HU"/>
              <a:t>- Szemantikus keresés a Qdrant-ban (Payload filtering).</a:t>
            </a:r>
          </a:p>
          <a:p>
            <a:r>
              <a:rPr lang="hu-HU"/>
              <a:t>- Kontextus-injektálás a Gemini promptba.</a:t>
            </a:r>
          </a:p>
          <a:p>
            <a:r>
              <a:rPr lang="hu-HU"/>
              <a:t>- Stílushű válaszgenerálás korábbi vélemények alapján.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4562FA7-C30E-E89A-2121-80140F978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5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7701C2-5A40-AB55-1253-29E1E45A5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Tapasztalatok és mérések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20F59A8-1DE7-D9C8-3BD5-7DABEE3F9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- Lokális futtatás (Ollama) vs Felhő (Gemini): 4.8s -&gt; 1.2s válaszidő.</a:t>
            </a:r>
          </a:p>
          <a:p>
            <a:r>
              <a:rPr lang="hu-HU"/>
              <a:t>- Modell stabilitás: A 12B modellek néha tévesztettek magyarul, a Gemini Flash konzisztensebb.</a:t>
            </a:r>
          </a:p>
          <a:p>
            <a:r>
              <a:rPr lang="hu-HU"/>
              <a:t>- Docker nehézségek után váltás Qdrant Cloud-ra (stabilabb hálózati réteg).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176A4E5-570E-0C2B-D256-A1E86C9F3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08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8F4404-702C-1DA6-3FCA-E65F666B8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Képernyőképek (ReviewAgent)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431CC96-3F2E-0BFC-82AA-9746607B6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[Ide illeszd be a Dashboard.html és Analytics.html képernyőképeit]</a:t>
            </a:r>
          </a:p>
          <a:p>
            <a:r>
              <a:rPr lang="hu-HU"/>
              <a:t>- Interaktív válaszgeneráló felület.</a:t>
            </a:r>
          </a:p>
          <a:p>
            <a:r>
              <a:rPr lang="hu-HU"/>
              <a:t>- AI Vezetői összefoglaló az Analytics oldalon.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B3E385F-6083-81ED-9A09-58A94F7B6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64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D7FB570-B1B9-A26D-D15A-B9950AA19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Biztonsági fejlesztések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C816564-8299-5DA3-3531-BCB56A4CC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- IDOR elleni védelem: Business_id ellenőrzése minden végponton.</a:t>
            </a:r>
          </a:p>
          <a:p>
            <a:r>
              <a:rPr lang="hu-HU"/>
              <a:t>- XSS szűrés a vélemények megjelenítésekor.</a:t>
            </a:r>
          </a:p>
          <a:p>
            <a:r>
              <a:rPr lang="hu-HU"/>
              <a:t>- Biztonságos JWT kezelés HttpOnly sütikkel.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83B8128-F066-DC34-413B-F803A46A7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53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0C0B33-3BDB-843A-253E-B0E4D06CE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Következő lépések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9FA5260-42D4-96C0-98A6-D3ECE035D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- Teljeskörű Google Business API integráció (közvetlen beküldés).</a:t>
            </a:r>
          </a:p>
          <a:p>
            <a:r>
              <a:rPr lang="hu-HU"/>
              <a:t>- Webhook-alapú valós idejű figyelés.</a:t>
            </a:r>
          </a:p>
          <a:p>
            <a:r>
              <a:rPr lang="hu-HU"/>
              <a:t>- Többnyelvű támogatás bővítése.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DE2F50D-3DCE-F441-1518-E854DC879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509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31CDD5-A410-17D2-7B53-F47CA29B3C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/>
              <a:t>Köszönöm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FC040B0-54A7-230B-BC09-A9F22DF988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/>
              <a:t>Kérdések?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3CA8506-89A1-5899-D420-738CEA650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03EB0DC-F12D-9F00-7A74-F123C7A42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567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FD6397-D911-3740-126B-A0340F8982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EE7A3F0-EB8C-DCD6-9C96-911A825E9D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A13B245-CAC6-C9DD-6EF8-42D319E8A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567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37926A-4374-90CB-854B-7CA3C7D41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2844DB-6359-AC89-A159-D4A42C358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FC071E6-1325-5E99-31A9-D792F6631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628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D953E7-6500-3AE9-BEFF-15E105229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013E176-7912-A745-5C83-C76C8AA05A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3482" y="1825625"/>
            <a:ext cx="7625035" cy="4351338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A6FD2D68-DCC3-2A22-0C96-BB5739DED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358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A7C49A-38EA-B780-38EC-B23275D1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CD1F60-8501-3A4B-AA47-34B350026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096189D-E5FF-5E18-7734-6A5C4EA86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305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-té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-té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3386</TotalTime>
  <Words>533</Words>
  <Application>Microsoft Office PowerPoint</Application>
  <PresentationFormat>Szélesvásznú</PresentationFormat>
  <Paragraphs>68</Paragraphs>
  <Slides>17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Ai-alapú Véleménykezelő Rendszer</vt:lpstr>
      <vt:lpstr>1. Bevezetés</vt:lpstr>
      <vt:lpstr>1. Bevezetés</vt:lpstr>
      <vt:lpstr>Problémadefiniálás</vt:lpstr>
      <vt:lpstr>Félév ütemezése</vt:lpstr>
      <vt:lpstr>Felhasznált technológiák</vt:lpstr>
      <vt:lpstr>Rendszerarchitektúra</vt:lpstr>
      <vt:lpstr>RAG technológia működése</vt:lpstr>
      <vt:lpstr>Tapasztalatok és mérések</vt:lpstr>
      <vt:lpstr>Képernyőképek (ReviewAgent)</vt:lpstr>
      <vt:lpstr>Biztonsági fejlesztések</vt:lpstr>
      <vt:lpstr>Következő lépések</vt:lpstr>
      <vt:lpstr>Köszönöm a figyelmet!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Szabó Bálint</dc:creator>
  <cp:lastModifiedBy>Szabó Bálint</cp:lastModifiedBy>
  <cp:revision>19</cp:revision>
  <dcterms:created xsi:type="dcterms:W3CDTF">2026-05-19T13:30:53Z</dcterms:created>
  <dcterms:modified xsi:type="dcterms:W3CDTF">2026-06-01T00:04:52Z</dcterms:modified>
</cp:coreProperties>
</file>